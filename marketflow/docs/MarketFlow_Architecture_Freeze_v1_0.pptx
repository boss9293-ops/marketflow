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0B0F14"/>
          </a:solidFill>
          <a:ln w="12700">
            <a:solidFill>
              <a:srgbClr val="0B0F14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000">
                <a:solidFill>
                  <a:srgbClr val="0B0F14"/>
                </a:solidFill>
              </a:rPr>
              <a:t/>
            </a:r>
          </a:p>
        </p:txBody>
      </p:sp>
      <p:sp>
        <p:nvSpPr>
          <p:cNvPr id="2" name="Title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3600" b="1">
                <a:solidFill>
                  <a:srgbClr val="F9FAFB"/>
                </a:solidFill>
              </a:rPr>
              <a:t>MarketFlow Architecture (Freeze v1.0)</a:t>
            </a:r>
          </a:p>
        </p:txBody>
      </p:sp>
      <p:sp>
        <p:nvSpPr>
          <p:cNvPr id="10" name="L0 Data Layer"/>
          <p:cNvSpPr/>
          <p:nvPr/>
        </p:nvSpPr>
        <p:spPr>
          <a:xfrm>
            <a:off x="640080" y="1325880"/>
            <a:ext cx="43891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800" b="1">
                <a:solidFill>
                  <a:srgbClr val="F8FAFC"/>
                </a:solidFill>
              </a:rPr>
              <a:t>L0 Data Layer</a:t>
            </a:r>
          </a:p>
          <a:p>
            <a:r>
              <a:rPr lang="ko-KR" sz="1300">
                <a:solidFill>
                  <a:srgbClr val="CBD5E1"/>
                </a:solidFill>
              </a:rPr>
              <a:t>신뢰 소스 집계(FRED/Market)</a:t>
            </a:r>
          </a:p>
          <a:p>
            <a:r>
              <a:rPr lang="ko-KR" sz="1100">
                <a:solidFill>
                  <a:srgbClr val="94A3B8"/>
                </a:solidFill>
              </a:rPr>
              <a:t>Does NOT: 판단 생성 안함</a:t>
            </a:r>
          </a:p>
        </p:txBody>
      </p:sp>
      <p:sp>
        <p:nvSpPr>
          <p:cNvPr id="11" name="arrow0"/>
          <p:cNvSpPr txBox="1"/>
          <p:nvPr/>
        </p:nvSpPr>
        <p:spPr>
          <a:xfrm>
            <a:off x="2651760" y="200253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2200" b="1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2" name="L1 Macro Sensor (Macro Room)"/>
          <p:cNvSpPr/>
          <p:nvPr/>
        </p:nvSpPr>
        <p:spPr>
          <a:xfrm>
            <a:off x="640080" y="2459736"/>
            <a:ext cx="4389120" cy="658368"/>
          </a:xfrm>
          <a:prstGeom prst="roundRect">
            <a:avLst/>
          </a:prstGeom>
          <a:solidFill>
            <a:srgbClr val="0F2744"/>
          </a:solidFill>
          <a:ln w="12700">
            <a:solidFill>
              <a:srgbClr val="475569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800" b="1">
                <a:solidFill>
                  <a:srgbClr val="F8FAFC"/>
                </a:solidFill>
              </a:rPr>
              <a:t>L1 Macro Sensor (Macro Room)</a:t>
            </a:r>
          </a:p>
          <a:p>
            <a:r>
              <a:rPr lang="ko-KR" sz="1300">
                <a:solidFill>
                  <a:srgbClr val="CBD5E1"/>
                </a:solidFill>
              </a:rPr>
              <a:t>환경 압력(유동성/금리/변동성)</a:t>
            </a:r>
          </a:p>
          <a:p>
            <a:r>
              <a:rPr lang="ko-KR" sz="1100">
                <a:solidFill>
                  <a:srgbClr val="94A3B8"/>
                </a:solidFill>
              </a:rPr>
              <a:t>Does NOT: 매수/매도 결정 안함</a:t>
            </a:r>
          </a:p>
        </p:txBody>
      </p:sp>
      <p:sp>
        <p:nvSpPr>
          <p:cNvPr id="13" name="arrow1"/>
          <p:cNvSpPr txBox="1"/>
          <p:nvPr/>
        </p:nvSpPr>
        <p:spPr>
          <a:xfrm>
            <a:off x="2651760" y="31363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2200" b="1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4" name="L2 Market Health (Structure)"/>
          <p:cNvSpPr/>
          <p:nvPr/>
        </p:nvSpPr>
        <p:spPr>
          <a:xfrm>
            <a:off x="640080" y="3593592"/>
            <a:ext cx="438912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475569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800" b="1">
                <a:solidFill>
                  <a:srgbClr val="F8FAFC"/>
                </a:solidFill>
              </a:rPr>
              <a:t>L2 Market Health (Structure)</a:t>
            </a:r>
          </a:p>
          <a:p>
            <a:r>
              <a:rPr lang="ko-KR" sz="1300">
                <a:solidFill>
                  <a:srgbClr val="CBD5E1"/>
                </a:solidFill>
              </a:rPr>
              <a:t>내부 체력(확산/참여)</a:t>
            </a:r>
          </a:p>
          <a:p>
            <a:r>
              <a:rPr lang="ko-KR" sz="1100">
                <a:solidFill>
                  <a:srgbClr val="94A3B8"/>
                </a:solidFill>
              </a:rPr>
              <a:t>Does NOT: 행동 지시 안함</a:t>
            </a:r>
          </a:p>
        </p:txBody>
      </p:sp>
      <p:sp>
        <p:nvSpPr>
          <p:cNvPr id="15" name="arrow2"/>
          <p:cNvSpPr txBox="1"/>
          <p:nvPr/>
        </p:nvSpPr>
        <p:spPr>
          <a:xfrm>
            <a:off x="2651760" y="42702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2200" b="1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6" name="L3 Market State (Regime)"/>
          <p:cNvSpPr/>
          <p:nvPr/>
        </p:nvSpPr>
        <p:spPr>
          <a:xfrm>
            <a:off x="640080" y="4727448"/>
            <a:ext cx="4389120" cy="658368"/>
          </a:xfrm>
          <a:prstGeom prst="roundRect">
            <a:avLst/>
          </a:prstGeom>
          <a:solidFill>
            <a:srgbClr val="2D1E3B"/>
          </a:solidFill>
          <a:ln w="12700">
            <a:solidFill>
              <a:srgbClr val="475569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800" b="1">
                <a:solidFill>
                  <a:srgbClr val="F8FAFC"/>
                </a:solidFill>
              </a:rPr>
              <a:t>L3 Market State (Regime)</a:t>
            </a:r>
          </a:p>
          <a:p>
            <a:r>
              <a:rPr lang="ko-KR" sz="1300">
                <a:solidFill>
                  <a:srgbClr val="CBD5E1"/>
                </a:solidFill>
              </a:rPr>
              <a:t>국면 진단명</a:t>
            </a:r>
          </a:p>
          <a:p>
            <a:r>
              <a:rPr lang="ko-KR" sz="1100">
                <a:solidFill>
                  <a:srgbClr val="94A3B8"/>
                </a:solidFill>
              </a:rPr>
              <a:t>Does NOT: 가격 목표 제시 안함</a:t>
            </a:r>
          </a:p>
        </p:txBody>
      </p:sp>
      <p:sp>
        <p:nvSpPr>
          <p:cNvPr id="17" name="arrow3"/>
          <p:cNvSpPr txBox="1"/>
          <p:nvPr/>
        </p:nvSpPr>
        <p:spPr>
          <a:xfrm>
            <a:off x="2651760" y="54041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2200" b="1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8" name="L4 Risk Engine (Action)"/>
          <p:cNvSpPr/>
          <p:nvPr/>
        </p:nvSpPr>
        <p:spPr>
          <a:xfrm>
            <a:off x="640080" y="5861304"/>
            <a:ext cx="4389120" cy="658368"/>
          </a:xfrm>
          <a:prstGeom prst="roundRect">
            <a:avLst/>
          </a:prstGeom>
          <a:solidFill>
            <a:srgbClr val="3A1F2A"/>
          </a:solidFill>
          <a:ln w="12700">
            <a:solidFill>
              <a:srgbClr val="475569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800" b="1">
                <a:solidFill>
                  <a:srgbClr val="F8FAFC"/>
                </a:solidFill>
              </a:rPr>
              <a:t>L4 Risk Engine (Action)</a:t>
            </a:r>
          </a:p>
          <a:p>
            <a:r>
              <a:rPr lang="ko-KR" sz="1300">
                <a:solidFill>
                  <a:srgbClr val="CBD5E1"/>
                </a:solidFill>
              </a:rPr>
              <a:t>노출 상단/속도 제한</a:t>
            </a:r>
          </a:p>
          <a:p>
            <a:r>
              <a:rPr lang="ko-KR" sz="1100">
                <a:solidFill>
                  <a:srgbClr val="94A3B8"/>
                </a:solidFill>
              </a:rPr>
              <a:t>Does NOT: 장기 전략 재정의 안함</a:t>
            </a:r>
          </a:p>
        </p:txBody>
      </p:sp>
      <p:sp>
        <p:nvSpPr>
          <p:cNvPr id="19" name="arrow4"/>
          <p:cNvSpPr txBox="1"/>
          <p:nvPr/>
        </p:nvSpPr>
        <p:spPr>
          <a:xfrm>
            <a:off x="26517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2200" b="1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20" name="L5 Portfolio Room"/>
          <p:cNvSpPr/>
          <p:nvPr/>
        </p:nvSpPr>
        <p:spPr>
          <a:xfrm>
            <a:off x="640080" y="6995160"/>
            <a:ext cx="438912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475569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800" b="1">
                <a:solidFill>
                  <a:srgbClr val="F8FAFC"/>
                </a:solidFill>
              </a:rPr>
              <a:t>L5 Portfolio Room</a:t>
            </a:r>
          </a:p>
          <a:p>
            <a:r>
              <a:rPr lang="ko-KR" sz="1300">
                <a:solidFill>
                  <a:srgbClr val="CBD5E1"/>
                </a:solidFill>
              </a:rPr>
              <a:t>계좌/전략 실행 레이어</a:t>
            </a:r>
          </a:p>
          <a:p>
            <a:r>
              <a:rPr lang="ko-KR" sz="1100">
                <a:solidFill>
                  <a:srgbClr val="94A3B8"/>
                </a:solidFill>
              </a:rPr>
              <a:t>Does NOT: 센서 계산 재정의 안함</a:t>
            </a:r>
          </a:p>
        </p:txBody>
      </p:sp>
      <p:sp>
        <p:nvSpPr>
          <p:cNvPr id="90" name="Overlay"/>
          <p:cNvSpPr/>
          <p:nvPr/>
        </p:nvSpPr>
        <p:spPr>
          <a:xfrm>
            <a:off x="548640" y="731520"/>
            <a:ext cx="5669280" cy="56692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800" b="1">
                <a:solidFill>
                  <a:srgbClr val="F8FAFC"/>
                </a:solidFill>
              </a:rPr>
              <a:t>L6 Market Context (Daily Brief)</a:t>
            </a:r>
          </a:p>
          <a:p>
            <a:r>
              <a:rPr lang="ko-KR" sz="1200">
                <a:solidFill>
                  <a:srgbClr val="C7D2FE"/>
                </a:solidFill>
              </a:rPr>
              <a:t>해석 전용(읽기 전용) · Tone: Constructive / Neutral / Cautious / Defensive / Uncertain</a:t>
            </a:r>
          </a:p>
          <a:p>
            <a:r>
              <a:rPr lang="ko-KR" sz="1100">
                <a:solidFill>
                  <a:srgbClr val="93C5FD"/>
                </a:solidFill>
              </a:rPr>
              <a:t>No prediction · no buy/sell</a:t>
            </a:r>
          </a:p>
        </p:txBody>
      </p:sp>
      <p:sp>
        <p:nvSpPr>
          <p:cNvPr id="100" name="dotted0"/>
          <p:cNvSpPr txBox="1"/>
          <p:nvPr/>
        </p:nvSpPr>
        <p:spPr>
          <a:xfrm>
            <a:off x="5486400" y="15087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1600">
                <a:solidFill>
                  <a:srgbClr val="64748B"/>
                </a:solidFill>
              </a:rPr>
              <a:t>⋯⋯</a:t>
            </a:r>
          </a:p>
        </p:txBody>
      </p:sp>
      <p:sp>
        <p:nvSpPr>
          <p:cNvPr id="101" name="dotted1"/>
          <p:cNvSpPr txBox="1"/>
          <p:nvPr/>
        </p:nvSpPr>
        <p:spPr>
          <a:xfrm>
            <a:off x="5486400" y="26426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1600">
                <a:solidFill>
                  <a:srgbClr val="64748B"/>
                </a:solidFill>
              </a:rPr>
              <a:t>⋯⋯</a:t>
            </a:r>
          </a:p>
        </p:txBody>
      </p:sp>
      <p:sp>
        <p:nvSpPr>
          <p:cNvPr id="102" name="dotted2"/>
          <p:cNvSpPr txBox="1"/>
          <p:nvPr/>
        </p:nvSpPr>
        <p:spPr>
          <a:xfrm>
            <a:off x="5486400" y="37764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1600">
                <a:solidFill>
                  <a:srgbClr val="64748B"/>
                </a:solidFill>
              </a:rPr>
              <a:t>⋯⋯</a:t>
            </a:r>
          </a:p>
        </p:txBody>
      </p:sp>
      <p:sp>
        <p:nvSpPr>
          <p:cNvPr id="103" name="dotted3"/>
          <p:cNvSpPr txBox="1"/>
          <p:nvPr/>
        </p:nvSpPr>
        <p:spPr>
          <a:xfrm>
            <a:off x="5486400" y="49103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1600">
                <a:solidFill>
                  <a:srgbClr val="64748B"/>
                </a:solidFill>
              </a:rPr>
              <a:t>⋯⋯</a:t>
            </a:r>
          </a:p>
        </p:txBody>
      </p:sp>
      <p:sp>
        <p:nvSpPr>
          <p:cNvPr id="120" name="VR"/>
          <p:cNvSpPr/>
          <p:nvPr/>
        </p:nvSpPr>
        <p:spPr>
          <a:xfrm>
            <a:off x="6400800" y="2011680"/>
            <a:ext cx="2286000" cy="1554480"/>
          </a:xfrm>
          <a:prstGeom prst="roundRect">
            <a:avLst/>
          </a:prstGeom>
          <a:solidFill>
            <a:srgbClr val="3F1D2E"/>
          </a:solidFill>
          <a:ln w="12700">
            <a:solidFill>
              <a:srgbClr val="9F1239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700" b="1">
                <a:solidFill>
                  <a:srgbClr val="F8FAFC"/>
                </a:solidFill>
              </a:rPr>
              <a:t>VR Room (Crash Override / Strategy)</a:t>
            </a:r>
          </a:p>
          <a:p>
            <a:r>
              <a:rPr lang="ko-KR" sz="1200">
                <a:solidFill>
                  <a:srgbClr val="FECACA"/>
                </a:solidFill>
              </a:rPr>
              <a:t>독립 전략 방 · 장기 풀 &amp; 리플레이</a:t>
            </a:r>
          </a:p>
          <a:p>
            <a:r>
              <a:rPr lang="ko-KR" sz="1100">
                <a:solidFill>
                  <a:srgbClr val="FDA4AF"/>
                </a:solidFill>
              </a:rPr>
              <a:t>No mixing with Macro/State signals</a:t>
            </a:r>
          </a:p>
        </p:txBody>
      </p:sp>
      <p:sp>
        <p:nvSpPr>
          <p:cNvPr id="121" name="divider"/>
          <p:cNvSpPr txBox="1"/>
          <p:nvPr/>
        </p:nvSpPr>
        <p:spPr>
          <a:xfrm>
            <a:off x="6172200" y="1417320"/>
            <a:ext cx="9144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4400">
                <a:solidFill>
                  <a:srgbClr val="475569"/>
                </a:solidFill>
              </a:rPr>
              <a:t>|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0B0F14"/>
          </a:solidFill>
          <a:ln w="12700">
            <a:solidFill>
              <a:srgbClr val="0B0F14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000">
                <a:solidFill>
                  <a:srgbClr val="0B0F14"/>
                </a:solidFill>
              </a:rPr>
              <a:t/>
            </a:r>
          </a:p>
        </p:txBody>
      </p:sp>
      <p:sp>
        <p:nvSpPr>
          <p:cNvPr id="2" name="Title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3600" b="1">
                <a:solidFill>
                  <a:srgbClr val="F9FAFB"/>
                </a:solidFill>
              </a:rPr>
              <a:t>Layer Meaning &amp; Boundaries</a:t>
            </a:r>
          </a:p>
        </p:txBody>
      </p:sp>
      <p:sp>
        <p:nvSpPr>
          <p:cNvPr id="10" name="header"/>
          <p:cNvSpPr/>
          <p:nvPr/>
        </p:nvSpPr>
        <p:spPr>
          <a:xfrm>
            <a:off x="548640" y="914400"/>
            <a:ext cx="804672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600" b="1">
                <a:solidFill>
                  <a:srgbClr val="E2E8F0"/>
                </a:solidFill>
              </a:rPr>
              <a:t>Layer</a:t>
            </a:r>
          </a:p>
          <a:p>
            <a:r>
              <a:rPr lang="ko-KR" sz="1400">
                <a:solidFill>
                  <a:srgbClr val="94A3B8"/>
                </a:solidFill>
              </a:rPr>
              <a:t>What it measures / What it does NOT decide</a:t>
            </a:r>
          </a:p>
        </p:txBody>
      </p:sp>
      <p:sp>
        <p:nvSpPr>
          <p:cNvPr id="30" name="l0"/>
          <p:cNvSpPr/>
          <p:nvPr/>
        </p:nvSpPr>
        <p:spPr>
          <a:xfrm>
            <a:off x="548640" y="1508760"/>
            <a:ext cx="1828800" cy="60350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400" b="1">
                <a:solidFill>
                  <a:srgbClr val="E5E7EB"/>
                </a:solidFill>
              </a:rPr>
              <a:t>L0 Data</a:t>
            </a:r>
          </a:p>
        </p:txBody>
      </p:sp>
      <p:sp>
        <p:nvSpPr>
          <p:cNvPr id="31" name="r0"/>
          <p:cNvSpPr/>
          <p:nvPr/>
        </p:nvSpPr>
        <p:spPr>
          <a:xfrm>
            <a:off x="2423160" y="1508760"/>
            <a:ext cx="6172200" cy="60350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250">
                <a:solidFill>
                  <a:srgbClr val="CBD5E1"/>
                </a:solidFill>
              </a:rPr>
              <a:t>• 측정 대상: 원천 데이터 정합성/업데이트</a:t>
            </a:r>
          </a:p>
          <a:p>
            <a:r>
              <a:rPr lang="ko-KR" sz="1250">
                <a:solidFill>
                  <a:srgbClr val="CBD5E1"/>
                </a:solidFill>
              </a:rPr>
              <a:t>• 결정 제외: 해석/판단/행동 생성</a:t>
            </a:r>
          </a:p>
        </p:txBody>
      </p:sp>
      <p:sp>
        <p:nvSpPr>
          <p:cNvPr id="32" name="l1"/>
          <p:cNvSpPr/>
          <p:nvPr/>
        </p:nvSpPr>
        <p:spPr>
          <a:xfrm>
            <a:off x="548640" y="2157984"/>
            <a:ext cx="1828800" cy="60350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400" b="1">
                <a:solidFill>
                  <a:srgbClr val="E5E7EB"/>
                </a:solidFill>
              </a:rPr>
              <a:t>L1 Macro</a:t>
            </a:r>
          </a:p>
        </p:txBody>
      </p:sp>
      <p:sp>
        <p:nvSpPr>
          <p:cNvPr id="33" name="r1"/>
          <p:cNvSpPr/>
          <p:nvPr/>
        </p:nvSpPr>
        <p:spPr>
          <a:xfrm>
            <a:off x="2423160" y="2157984"/>
            <a:ext cx="6172200" cy="60350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250">
                <a:solidFill>
                  <a:srgbClr val="CBD5E1"/>
                </a:solidFill>
              </a:rPr>
              <a:t>• 측정 대상: 환경 압력(유동성/금리/변동성)</a:t>
            </a:r>
          </a:p>
          <a:p>
            <a:r>
              <a:rPr lang="ko-KR" sz="1250">
                <a:solidFill>
                  <a:srgbClr val="CBD5E1"/>
                </a:solidFill>
              </a:rPr>
              <a:t>• 결정 제외: 매수/매도 지시</a:t>
            </a:r>
          </a:p>
        </p:txBody>
      </p:sp>
      <p:sp>
        <p:nvSpPr>
          <p:cNvPr id="34" name="l2"/>
          <p:cNvSpPr/>
          <p:nvPr/>
        </p:nvSpPr>
        <p:spPr>
          <a:xfrm>
            <a:off x="548640" y="2807208"/>
            <a:ext cx="1828800" cy="60350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400" b="1">
                <a:solidFill>
                  <a:srgbClr val="E5E7EB"/>
                </a:solidFill>
              </a:rPr>
              <a:t>L2 Health</a:t>
            </a:r>
          </a:p>
        </p:txBody>
      </p:sp>
      <p:sp>
        <p:nvSpPr>
          <p:cNvPr id="35" name="r2"/>
          <p:cNvSpPr/>
          <p:nvPr/>
        </p:nvSpPr>
        <p:spPr>
          <a:xfrm>
            <a:off x="2423160" y="2807208"/>
            <a:ext cx="6172200" cy="60350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250">
                <a:solidFill>
                  <a:srgbClr val="CBD5E1"/>
                </a:solidFill>
              </a:rPr>
              <a:t>• 측정 대상: 내부 체력(확산/참여)</a:t>
            </a:r>
          </a:p>
          <a:p>
            <a:r>
              <a:rPr lang="ko-KR" sz="1250">
                <a:solidFill>
                  <a:srgbClr val="CBD5E1"/>
                </a:solidFill>
              </a:rPr>
              <a:t>• 결정 제외: 실행 타이밍 단정</a:t>
            </a:r>
          </a:p>
        </p:txBody>
      </p:sp>
      <p:sp>
        <p:nvSpPr>
          <p:cNvPr id="36" name="l3"/>
          <p:cNvSpPr/>
          <p:nvPr/>
        </p:nvSpPr>
        <p:spPr>
          <a:xfrm>
            <a:off x="548640" y="3456432"/>
            <a:ext cx="1828800" cy="60350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400" b="1">
                <a:solidFill>
                  <a:srgbClr val="E5E7EB"/>
                </a:solidFill>
              </a:rPr>
              <a:t>L3 State</a:t>
            </a:r>
          </a:p>
        </p:txBody>
      </p:sp>
      <p:sp>
        <p:nvSpPr>
          <p:cNvPr id="37" name="r3"/>
          <p:cNvSpPr/>
          <p:nvPr/>
        </p:nvSpPr>
        <p:spPr>
          <a:xfrm>
            <a:off x="2423160" y="3456432"/>
            <a:ext cx="6172200" cy="60350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250">
                <a:solidFill>
                  <a:srgbClr val="CBD5E1"/>
                </a:solidFill>
              </a:rPr>
              <a:t>• 측정 대상: 국면 진단명/상태 분류</a:t>
            </a:r>
          </a:p>
          <a:p>
            <a:r>
              <a:rPr lang="ko-KR" sz="1250">
                <a:solidFill>
                  <a:srgbClr val="CBD5E1"/>
                </a:solidFill>
              </a:rPr>
              <a:t>• 결정 제외: 포지션 크기 결정</a:t>
            </a:r>
          </a:p>
        </p:txBody>
      </p:sp>
      <p:sp>
        <p:nvSpPr>
          <p:cNvPr id="38" name="l4"/>
          <p:cNvSpPr/>
          <p:nvPr/>
        </p:nvSpPr>
        <p:spPr>
          <a:xfrm>
            <a:off x="548640" y="4105656"/>
            <a:ext cx="1828800" cy="60350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400" b="1">
                <a:solidFill>
                  <a:srgbClr val="E5E7EB"/>
                </a:solidFill>
              </a:rPr>
              <a:t>L4 Risk Engine</a:t>
            </a:r>
          </a:p>
        </p:txBody>
      </p:sp>
      <p:sp>
        <p:nvSpPr>
          <p:cNvPr id="39" name="r4"/>
          <p:cNvSpPr/>
          <p:nvPr/>
        </p:nvSpPr>
        <p:spPr>
          <a:xfrm>
            <a:off x="2423160" y="4105656"/>
            <a:ext cx="6172200" cy="60350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250">
                <a:solidFill>
                  <a:srgbClr val="CBD5E1"/>
                </a:solidFill>
              </a:rPr>
              <a:t>• 측정 대상: 노출 상단/속도 제한</a:t>
            </a:r>
          </a:p>
          <a:p>
            <a:r>
              <a:rPr lang="ko-KR" sz="1250">
                <a:solidFill>
                  <a:srgbClr val="CBD5E1"/>
                </a:solidFill>
              </a:rPr>
              <a:t>• 결정 제외: 종목 선택</a:t>
            </a:r>
          </a:p>
        </p:txBody>
      </p:sp>
      <p:sp>
        <p:nvSpPr>
          <p:cNvPr id="40" name="l5"/>
          <p:cNvSpPr/>
          <p:nvPr/>
        </p:nvSpPr>
        <p:spPr>
          <a:xfrm>
            <a:off x="548640" y="4754880"/>
            <a:ext cx="1828800" cy="60350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400" b="1">
                <a:solidFill>
                  <a:srgbClr val="E5E7EB"/>
                </a:solidFill>
              </a:rPr>
              <a:t>L5 Portfolio</a:t>
            </a:r>
          </a:p>
        </p:txBody>
      </p:sp>
      <p:sp>
        <p:nvSpPr>
          <p:cNvPr id="41" name="r5"/>
          <p:cNvSpPr/>
          <p:nvPr/>
        </p:nvSpPr>
        <p:spPr>
          <a:xfrm>
            <a:off x="2423160" y="4754880"/>
            <a:ext cx="6172200" cy="60350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250">
                <a:solidFill>
                  <a:srgbClr val="CBD5E1"/>
                </a:solidFill>
              </a:rPr>
              <a:t>• 측정 대상: 계좌/전략 운용</a:t>
            </a:r>
          </a:p>
          <a:p>
            <a:r>
              <a:rPr lang="ko-KR" sz="1250">
                <a:solidFill>
                  <a:srgbClr val="CBD5E1"/>
                </a:solidFill>
              </a:rPr>
              <a:t>• 결정 제외: 센서 로직 변경</a:t>
            </a:r>
          </a:p>
        </p:txBody>
      </p:sp>
      <p:sp>
        <p:nvSpPr>
          <p:cNvPr id="42" name="l6"/>
          <p:cNvSpPr/>
          <p:nvPr/>
        </p:nvSpPr>
        <p:spPr>
          <a:xfrm>
            <a:off x="548640" y="5404104"/>
            <a:ext cx="1828800" cy="60350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400" b="1">
                <a:solidFill>
                  <a:srgbClr val="E5E7EB"/>
                </a:solidFill>
              </a:rPr>
              <a:t>L6 Context</a:t>
            </a:r>
          </a:p>
        </p:txBody>
      </p:sp>
      <p:sp>
        <p:nvSpPr>
          <p:cNvPr id="43" name="r6"/>
          <p:cNvSpPr/>
          <p:nvPr/>
        </p:nvSpPr>
        <p:spPr>
          <a:xfrm>
            <a:off x="2423160" y="5404104"/>
            <a:ext cx="6172200" cy="60350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250">
                <a:solidFill>
                  <a:srgbClr val="CBD5E1"/>
                </a:solidFill>
              </a:rPr>
              <a:t>• 측정 대상: 오늘 분위기 브리핑(해석 전용)</a:t>
            </a:r>
          </a:p>
          <a:p>
            <a:r>
              <a:rPr lang="ko-KR" sz="1250">
                <a:solidFill>
                  <a:srgbClr val="CBD5E1"/>
                </a:solidFill>
              </a:rPr>
              <a:t>• 결정 제외: 알림/신호 생성</a:t>
            </a:r>
          </a:p>
        </p:txBody>
      </p:sp>
      <p:sp>
        <p:nvSpPr>
          <p:cNvPr id="44" name="l7"/>
          <p:cNvSpPr/>
          <p:nvPr/>
        </p:nvSpPr>
        <p:spPr>
          <a:xfrm>
            <a:off x="548640" y="6053328"/>
            <a:ext cx="1828800" cy="60350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400" b="1">
                <a:solidFill>
                  <a:srgbClr val="E5E7EB"/>
                </a:solidFill>
              </a:rPr>
              <a:t>VR Room</a:t>
            </a:r>
          </a:p>
        </p:txBody>
      </p:sp>
      <p:sp>
        <p:nvSpPr>
          <p:cNvPr id="45" name="r7"/>
          <p:cNvSpPr/>
          <p:nvPr/>
        </p:nvSpPr>
        <p:spPr>
          <a:xfrm>
            <a:off x="2423160" y="6053328"/>
            <a:ext cx="6172200" cy="60350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250">
                <a:solidFill>
                  <a:srgbClr val="CBD5E1"/>
                </a:solidFill>
              </a:rPr>
              <a:t>• 측정 대상: 독립 전략/리플레이</a:t>
            </a:r>
          </a:p>
          <a:p>
            <a:r>
              <a:rPr lang="ko-KR" sz="1250">
                <a:solidFill>
                  <a:srgbClr val="CBD5E1"/>
                </a:solidFill>
              </a:rPr>
              <a:t>• 결정 제외: Macro/State 신호와 혼합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0B0F14"/>
          </a:solidFill>
          <a:ln w="12700">
            <a:solidFill>
              <a:srgbClr val="0B0F14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000">
                <a:solidFill>
                  <a:srgbClr val="0B0F14"/>
                </a:solidFill>
              </a:rPr>
              <a:t/>
            </a:r>
          </a:p>
        </p:txBody>
      </p:sp>
      <p:sp>
        <p:nvSpPr>
          <p:cNvPr id="2" name="Title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3600" b="1">
                <a:solidFill>
                  <a:srgbClr val="F9FAFB"/>
                </a:solidFill>
              </a:rPr>
              <a:t>Sidebar Mapping (Final)</a:t>
            </a:r>
          </a:p>
        </p:txBody>
      </p:sp>
      <p:sp>
        <p:nvSpPr>
          <p:cNvPr id="10" name="grp0"/>
          <p:cNvSpPr/>
          <p:nvPr/>
        </p:nvSpPr>
        <p:spPr>
          <a:xfrm>
            <a:off x="822960" y="1188720"/>
            <a:ext cx="7498079" cy="24963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700" b="1">
                <a:solidFill>
                  <a:srgbClr val="60A5FA"/>
                </a:solidFill>
              </a:rPr>
              <a:t>MARKET OS</a:t>
            </a:r>
          </a:p>
          <a:p>
            <a:r>
              <a:rPr lang="ko-KR" sz="1350">
                <a:solidFill>
                  <a:srgbClr val="E5E7EB"/>
                </a:solidFill>
              </a:rPr>
              <a:t>• Market Context</a:t>
            </a:r>
          </a:p>
          <a:p>
            <a:r>
              <a:rPr lang="ko-KR" sz="1350">
                <a:solidFill>
                  <a:srgbClr val="E5E7EB"/>
                </a:solidFill>
              </a:rPr>
              <a:t>• Market State</a:t>
            </a:r>
          </a:p>
          <a:p>
            <a:r>
              <a:rPr lang="ko-KR" sz="1350">
                <a:solidFill>
                  <a:srgbClr val="E5E7EB"/>
                </a:solidFill>
              </a:rPr>
              <a:t>• Market Health</a:t>
            </a:r>
          </a:p>
          <a:p>
            <a:r>
              <a:rPr lang="ko-KR" sz="1350">
                <a:solidFill>
                  <a:srgbClr val="E5E7EB"/>
                </a:solidFill>
              </a:rPr>
              <a:t>• Macro</a:t>
            </a:r>
          </a:p>
          <a:p>
            <a:r>
              <a:rPr lang="ko-KR" sz="1350">
                <a:solidFill>
                  <a:srgbClr val="E5E7EB"/>
                </a:solidFill>
              </a:rPr>
              <a:t>• Opportunity (VCP)</a:t>
            </a:r>
          </a:p>
          <a:p>
            <a:r>
              <a:rPr lang="ko-KR" sz="1350">
                <a:solidFill>
                  <a:srgbClr val="E5E7EB"/>
                </a:solidFill>
              </a:rPr>
              <a:t>• Sectors</a:t>
            </a:r>
          </a:p>
        </p:txBody>
      </p:sp>
      <p:sp>
        <p:nvSpPr>
          <p:cNvPr id="11" name="grp1"/>
          <p:cNvSpPr/>
          <p:nvPr/>
        </p:nvSpPr>
        <p:spPr>
          <a:xfrm>
            <a:off x="822960" y="3941064"/>
            <a:ext cx="7498079" cy="987552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700" b="1">
                <a:solidFill>
                  <a:srgbClr val="F59E0B"/>
                </a:solidFill>
              </a:rPr>
              <a:t>ACTION</a:t>
            </a:r>
          </a:p>
          <a:p>
            <a:r>
              <a:rPr lang="ko-KR" sz="1350">
                <a:solidFill>
                  <a:srgbClr val="E5E7EB"/>
                </a:solidFill>
              </a:rPr>
              <a:t>• Risk Engine</a:t>
            </a:r>
          </a:p>
        </p:txBody>
      </p:sp>
      <p:sp>
        <p:nvSpPr>
          <p:cNvPr id="12" name="grp2"/>
          <p:cNvSpPr/>
          <p:nvPr/>
        </p:nvSpPr>
        <p:spPr>
          <a:xfrm>
            <a:off x="822960" y="5184648"/>
            <a:ext cx="7498079" cy="1289304"/>
          </a:xfrm>
          <a:prstGeom prst="roundRect">
            <a:avLst/>
          </a:prstGeom>
          <a:solidFill>
            <a:srgbClr val="3F1D2E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 anchor="ctr"/>
          <a:lstStyle/>
          <a:p>
            <a:r>
              <a:rPr lang="ko-KR" sz="1700" b="1">
                <a:solidFill>
                  <a:srgbClr val="FB7185"/>
                </a:solidFill>
              </a:rPr>
              <a:t>STRATEGY ROOMS</a:t>
            </a:r>
          </a:p>
          <a:p>
            <a:r>
              <a:rPr lang="ko-KR" sz="1350">
                <a:solidFill>
                  <a:srgbClr val="E5E7EB"/>
                </a:solidFill>
              </a:rPr>
              <a:t>• Portfolio</a:t>
            </a:r>
          </a:p>
          <a:p>
            <a:r>
              <a:rPr lang="ko-KR" sz="1350">
                <a:solidFill>
                  <a:srgbClr val="E5E7EB"/>
                </a:solidFill>
              </a:rPr>
              <a:t>• VR Room</a:t>
            </a:r>
          </a:p>
        </p:txBody>
      </p:sp>
      <p:sp>
        <p:nvSpPr>
          <p:cNvPr id="40" name="note"/>
          <p:cNvSpPr txBox="1"/>
          <p:nvPr/>
        </p:nvSpPr>
        <p:spPr>
          <a:xfrm>
            <a:off x="822960" y="594360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/>
          <a:lstStyle/>
          <a:p>
            <a:r>
              <a:rPr lang="ko-KR" sz="1200">
                <a:solidFill>
                  <a:srgbClr val="94A3B8"/>
                </a:solidFill>
              </a:rPr>
              <a:t>Freeze v1.0: UI labeling alignment only. System logic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B82F6"/>
      </a:accent1>
      <a:accent2>
        <a:srgbClr val="10B981"/>
      </a:accent2>
      <a:accent3>
        <a:srgbClr val="F59E0B"/>
      </a:accent3>
      <a:accent4>
        <a:srgbClr val="FB7185"/>
      </a:accent4>
      <a:accent5>
        <a:srgbClr val="94A3B8"/>
      </a:accent5>
      <a:accent6>
        <a:srgbClr val="6366F1"/>
      </a:accent6>
      <a:hlink>
        <a:srgbClr val="60A5FA"/>
      </a:hlink>
      <a:folHlink>
        <a:srgbClr val="A78BFA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MarketFlow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MarketFlow Freeze v1.0 Architecture</dc:title>
  <dc:creator>Codex</dc:creator>
  <cp:lastModifiedBy>Codex</cp:lastModifiedBy>
  <dcterms:created xsi:type="dcterms:W3CDTF">2026-02-27T01:20:03Z</dcterms:created>
  <dcterms:modified xsi:type="dcterms:W3CDTF">2026-02-27T01:20:03Z</dcterms:modified>
</cp:coreProperties>
</file>